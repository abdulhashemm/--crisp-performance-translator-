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Performance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Command-Center Risk Monitoring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CMH7 Outbound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F6B35">
              <a:alpha val="8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Thresholds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33832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00BFA5">
              <a:alpha val="8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0" y="338328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0C853">
              <a:alpha val="8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Logging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1744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PC_Singles peak utilization</a:t>
            </a:r>
            <a:endParaRPr lang="en-US" sz="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</a:rPr>
              <a:t>104.9%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05/30 11:00 — above capacity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41148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9900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PC_Multis peak utilization</a:t>
            </a:r>
            <a:endParaRPr lang="en-US" sz="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D600"/>
                </a:solidFill>
              </a:rPr>
              <a:t>101.1%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05/30 11:00 — capacity pressure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Project Proposal — Abdulrahman Hashem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CRISP Shows for CMH7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146304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PC_Singles — 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windows forecasted &gt;100% utilization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05:00, 11:00, and 13:00 CPT windows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104.9%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43200"/>
            <a:ext cx="10972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PC_Multis — YELLOW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window &gt;100%, near-capacity at 3 others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05:00, 13:00, 14:00 approaching threshold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3794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101.1%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icon_100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0" y="1463040"/>
            <a:ext cx="548640" cy="548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Gap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29200" y="25603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identifies WHAT is at risk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WHERE on the floor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WHY it is happening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the next layer.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CRISP Performance Translator | CMH7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560320" cy="73152"/>
          </a:xfrm>
          <a:prstGeom prst="rect">
            <a:avLst/>
          </a:prstGeom>
          <a:solidFill>
            <a:srgbClr val="FF1744"/>
          </a:solidFill>
          <a:ln/>
        </p:spPr>
      </p:sp>
      <p:pic>
        <p:nvPicPr>
          <p:cNvPr id="7" name="Image 0" descr="icon_10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016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see capacity pressure but must hunt across multiple tools and floor walks to find the physical source.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17520" y="2468880"/>
            <a:ext cx="457200" cy="365760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11" name="Shape 8"/>
          <p:cNvSpPr/>
          <p:nvPr/>
        </p:nvSpPr>
        <p:spPr>
          <a:xfrm>
            <a:off x="3566160" y="12801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280160"/>
            <a:ext cx="2560320" cy="73152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3" name="Image 1" descr="icon_102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056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49040" y="2468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becomes reactive. Labor moves are late, escalations hit the wrong area, and repeat bottlenecks stay hidden.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0" y="2468880"/>
            <a:ext cx="457200" cy="365760"/>
          </a:xfrm>
          <a:prstGeom prst="rightArrow">
            <a:avLst/>
          </a:prstGeom>
          <a:solidFill>
            <a:srgbClr val="00C853"/>
          </a:solidFill>
          <a:ln/>
        </p:spPr>
      </p:sp>
      <p:sp>
        <p:nvSpPr>
          <p:cNvPr id="17" name="Shape 13"/>
          <p:cNvSpPr/>
          <p:nvPr/>
        </p:nvSpPr>
        <p:spPr>
          <a:xfrm>
            <a:off x="6766560" y="128016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766560" y="1280160"/>
            <a:ext cx="2103120" cy="73152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19" name="Image 2" descr="icon_103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8080" y="1554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0" y="24688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monitoring layer that translates CRISP risk into severity, location, and recommended action.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65760" y="43891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A1A2E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Build a monitoring engine that applies severity scoring, escalation logic, and incident tracking to CRISP risk data.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CRISP Performance Translator | CMH7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Backwards Framing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051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OMs, AMs, PAs, Flow, RME — and ultimately customer promise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FF9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CPT is at risk but not why or where fast enough to act proactively.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6060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severity board with escalation timers, incident logs, and recommended actions.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383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available data first. Classify likely bottleneck zones without claiming perfect root cause.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00C8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4160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time-to-localize CPT risk and improve pre-CPT intervention speed.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FF6B35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leadership team should have to hunt across systems to know where CPT risk is forming.”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Whys: From CRISP Signal to Actionable Response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64008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CPT at risk?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097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853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utilization exceeds safe capacity window.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91440" cy="6400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capacity pressure high?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874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60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1874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processing slower than needed.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2606040"/>
            <a:ext cx="7955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2606040"/>
            <a:ext cx="91440" cy="6400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slowdown?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6517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90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SLAM, sorter, chute, or dock zone.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338328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97280" y="3383280"/>
            <a:ext cx="9144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4520" y="3429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that area slow?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gap, downtime, WIP spike, or rate loss.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71600" y="416052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4160520"/>
            <a:ext cx="91440" cy="64008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48840" y="4206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corrected sooner?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42062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1744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severity/escalation mechanism to translate risk into action.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Monitoring Architecture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E2A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54864"/>
          </a:xfrm>
          <a:prstGeom prst="rect">
            <a:avLst/>
          </a:prstGeom>
          <a:solidFill>
            <a:srgbClr val="0F3460"/>
          </a:solidFill>
          <a:ln/>
        </p:spPr>
      </p:sp>
      <p:pic>
        <p:nvPicPr>
          <p:cNvPr id="6" name="Image 0" descr="icon_1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+ REDO signals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468880"/>
            <a:ext cx="274320" cy="228600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E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13" name="Image 1" descr="icon_105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120" y="15544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6517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6517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Green/Yellow/Orange/Red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480560" y="2468880"/>
            <a:ext cx="274320" cy="228600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E2A4A"/>
          </a:solidFill>
          <a:ln/>
        </p:spPr>
      </p:sp>
      <p:sp>
        <p:nvSpPr>
          <p:cNvPr id="19" name="Shape 15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2" descr="icon_106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0680" y="15544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84632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&amp; Incidents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84632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Timers, auto-log, runbooks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675120" y="2468880"/>
            <a:ext cx="274320" cy="228600"/>
          </a:xfrm>
          <a:prstGeom prst="rightArrow">
            <a:avLst/>
          </a:prstGeom>
          <a:solidFill>
            <a:srgbClr val="FF6B35"/>
          </a:solidFill>
          <a:ln/>
        </p:spPr>
      </p:sp>
      <p:sp>
        <p:nvSpPr>
          <p:cNvPr id="25" name="Shape 20"/>
          <p:cNvSpPr/>
          <p:nvPr/>
        </p:nvSpPr>
        <p:spPr>
          <a:xfrm>
            <a:off x="694944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E2A4A"/>
          </a:solidFill>
          <a:ln/>
        </p:spPr>
      </p:sp>
      <p:sp>
        <p:nvSpPr>
          <p:cNvPr id="26" name="Shape 21"/>
          <p:cNvSpPr/>
          <p:nvPr/>
        </p:nvSpPr>
        <p:spPr>
          <a:xfrm>
            <a:off x="6949440" y="1188720"/>
            <a:ext cx="1920240" cy="54864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27" name="Image 3" descr="icon_107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35240" y="155448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088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0408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Board Output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0408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view + action cards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0F3460"/>
          </a:solidFill>
          <a:ln/>
        </p:spPr>
      </p:sp>
      <p:sp>
        <p:nvSpPr>
          <p:cNvPr id="32" name="Text 26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AWS-Ready Path: S3 → Lambda/scheduled job → QuickSight/Streamlit dashboard → Chime/email alerts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 &amp; Escalation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37160" cy="5029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137160" cy="502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85 - 95%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13716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51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95 - 100%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137160" cy="50292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10058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0" y="1005840"/>
            <a:ext cx="2286000" cy="54864"/>
          </a:xfrm>
          <a:prstGeom prst="rect">
            <a:avLst/>
          </a:prstGeom>
          <a:solidFill>
            <a:srgbClr val="FF1744"/>
          </a:solidFill>
          <a:ln/>
        </p:spPr>
      </p:sp>
      <p:pic>
        <p:nvPicPr>
          <p:cNvPr id="24" name="Image 0" descr="icon_1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7760" y="11887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25196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Rules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25196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persists &gt;X min → auto-escalate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Yellows → compound alert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583680" y="10058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83680" y="1005840"/>
            <a:ext cx="2286000" cy="54864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9" name="Image 1" descr="icon_109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6640" y="118872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72084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Logging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720840" y="1920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breach timestamped: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severity, duration, driver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114800" y="28346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114800" y="2834640"/>
            <a:ext cx="2286000" cy="54864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34" name="Image 2" descr="icon_110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760" y="301752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25196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251960" y="3749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severity level maps to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runbook response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6583680" y="28346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583680" y="2834640"/>
            <a:ext cx="2286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9" name="Image 3" descr="icon_111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6640" y="3017520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72084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Timer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720840" y="3749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visible to leaders</a:t>
            </a:r>
            <a:endParaRPr lang="en-US" sz="8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increases with time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CRISP Performance Translator | CMH7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Command-Center Status Board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2857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CMH7 OUTBOUND — LIVE MONITORING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960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FF1744">
              <a:alpha val="25000"/>
            </a:srgbClr>
          </a:solidFill>
          <a:ln w="19050">
            <a:solidFill>
              <a:srgbClr val="FF1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PC_Singles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FFD600">
              <a:alpha val="25000"/>
            </a:srgbClr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PC_Multis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0" y="1554480"/>
            <a:ext cx="1280160" cy="1280160"/>
          </a:xfrm>
          <a:prstGeom prst="roundRect">
            <a:avLst>
              <a:gd name="adj" fmla="val 4286"/>
            </a:avLst>
          </a:prstGeom>
          <a:solidFill>
            <a:srgbClr val="00C853">
              <a:alpha val="25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1280160" cy="1280160"/>
          </a:xfrm>
          <a:prstGeom prst="roundRect">
            <a:avLst>
              <a:gd name="adj" fmla="val 4286"/>
            </a:avLst>
          </a:prstGeom>
          <a:solidFill>
            <a:srgbClr val="00C853">
              <a:alpha val="25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4400" y="30175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D600">
              <a:alpha val="25000"/>
            </a:srgbClr>
          </a:solidFill>
          <a:ln w="1905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Dock/Load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00C853">
              <a:alpha val="25000"/>
            </a:srgbClr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1B283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ACTIVE ALERT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PC_Singles &gt;104% utilization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Check station throughput +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coverage before 11:00 CPT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Escalation in: 12 min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BI dashboard — a NOC-style monitoring screen. Green until something goes wrong.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Problem-Solving Mechanisms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0" descr="icon_11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732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customer, outcome, FAQ risks, and success metrics before building.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97280"/>
            <a:ext cx="2651760" cy="54864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12" name="Image 1" descr="icon_113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1960" y="1280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/ RCA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3756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capacity risk to physical area, then to likely driver.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0F3460"/>
          </a:solidFill>
          <a:ln/>
        </p:spPr>
      </p:sp>
      <p:pic>
        <p:nvPicPr>
          <p:cNvPr id="17" name="Image 2" descr="icon_114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00" y="1280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Doors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7220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dashboards are reversible; permanent changes need validation.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6576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3017520"/>
            <a:ext cx="2651760" cy="54864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22" name="Image 3" descr="icon_115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7320" y="32004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292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 Deep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heat-map outputs with floor observation and PA/AM feedback.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20040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3017520"/>
            <a:ext cx="2651760" cy="54864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7" name="Image 4" descr="icon_116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51960" y="320040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375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for Action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33756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available CRISP exports and one pilot area; iterate weekly.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035040" y="301752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3017520"/>
            <a:ext cx="2651760" cy="54864"/>
          </a:xfrm>
          <a:prstGeom prst="rect">
            <a:avLst/>
          </a:prstGeom>
          <a:solidFill>
            <a:srgbClr val="FF1744"/>
          </a:solidFill>
          <a:ln/>
        </p:spPr>
      </p:sp>
      <p:pic>
        <p:nvPicPr>
          <p:cNvPr id="32" name="Image 5" descr="icon_117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86600" y="320040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722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/ PDCA / Kaizen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17220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repeat bottlenecks into documented corrective-action loops.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CRISP Performance Translator | CMH7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Door Decisions vs One-Way Doors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Two-Way Doors (Reversible)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000" dirty="0">
                <a:solidFill>
                  <a:srgbClr val="444444"/>
                </a:solidFill>
              </a:rPr>
              <a:t>Build MVP in Python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000" dirty="0">
                <a:solidFill>
                  <a:srgbClr val="444444"/>
                </a:solidFill>
              </a:rPr>
              <a:t>Use CRISP exports + sample layout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000" dirty="0">
                <a:solidFill>
                  <a:srgbClr val="444444"/>
                </a:solidFill>
              </a:rPr>
              <a:t>Pilot one process (PC_Singles or PC_Multis)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000" dirty="0">
                <a:solidFill>
                  <a:srgbClr val="444444"/>
                </a:solidFill>
              </a:rPr>
              <a:t>Adjust scoring weights and thresholds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000" dirty="0">
                <a:solidFill>
                  <a:srgbClr val="444444"/>
                </a:solidFill>
              </a:rPr>
              <a:t>Refine action-card language with PA/AM feedback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One-Way Doors (Irreversible)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000" dirty="0">
                <a:solidFill>
                  <a:srgbClr val="444444"/>
                </a:solidFill>
              </a:rPr>
              <a:t>Changing official labor standards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000" dirty="0">
                <a:solidFill>
                  <a:srgbClr val="444444"/>
                </a:solidFill>
              </a:rPr>
              <a:t>Changing station ownership metrics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000" dirty="0">
                <a:solidFill>
                  <a:srgbClr val="444444"/>
                </a:solidFill>
              </a:rPr>
              <a:t>Creating permanent escalation rules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000" dirty="0">
                <a:solidFill>
                  <a:srgbClr val="444444"/>
                </a:solidFill>
              </a:rPr>
              <a:t>Publishing unvalidated root-cause conclusions</a:t>
            </a:r>
            <a:endParaRPr lang="en-US" sz="1000" dirty="0"/>
          </a:p>
          <a:p>
            <a:pPr marL="342900" indent="-342900">
              <a:lnSpc>
                <a:spcPts val="2000"/>
              </a:lnSpc>
              <a:buSzPct val="100000"/>
              <a:buChar char="✗"/>
            </a:pPr>
            <a:r>
              <a:rPr lang="en-US" sz="1000" dirty="0">
                <a:solidFill>
                  <a:srgbClr val="444444"/>
                </a:solidFill>
              </a:rPr>
              <a:t>Making staffing moves without floor validation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principle: Treat the tool as decision support. It accelerates investigation — it does not replace leader judgment.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5486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43000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2011680" cy="5486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Confirm CRISP/REDO access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Map process areas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Identify data schemas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143000"/>
            <a:ext cx="457200" cy="457200"/>
          </a:xfrm>
          <a:prstGeom prst="ellipse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178308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783080"/>
            <a:ext cx="201168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MVP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Python ingestion pipeline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Severity scoring engine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Process-level alerts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1143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78308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78308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3317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Add station productivity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Downtime + labor signals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Zone-level scoring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35240" y="1143000"/>
            <a:ext cx="457200" cy="457200"/>
          </a:xfrm>
          <a:prstGeom prst="ellipse">
            <a:avLst/>
          </a:prstGeom>
          <a:solidFill>
            <a:srgbClr val="00C85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1783080"/>
            <a:ext cx="2011680" cy="25603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783080"/>
            <a:ext cx="201168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Present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3317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Compare with floor reality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Tune thresholds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●"/>
            </a:pPr>
            <a:r>
              <a:rPr lang="en-US" sz="900" dirty="0">
                <a:solidFill>
                  <a:srgbClr val="555555"/>
                </a:solidFill>
              </a:rPr>
              <a:t>Demo dashboard + docs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Working Python code + CRISP-based dashboard + CMH7 heat-map prototype + documented assumptions + leadership narrative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09728" cy="1508760"/>
          </a:xfrm>
          <a:prstGeom prst="rect">
            <a:avLst/>
          </a:prstGeom>
          <a:solidFill>
            <a:srgbClr val="0F3460"/>
          </a:solidFill>
          <a:ln/>
        </p:spPr>
      </p:sp>
      <p:pic>
        <p:nvPicPr>
          <p:cNvPr id="7" name="Image 0" descr="icon_11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export, REDO signals, station productivity, downtime events, labor allocation, floor layout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97280"/>
            <a:ext cx="109728" cy="150876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2" name="Image 1" descr="icon_119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577840" y="1645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PC_Singles or PC_Multis — strongest CRISP signal today with clear capacity pressure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788920"/>
            <a:ext cx="109728" cy="1508760"/>
          </a:xfrm>
          <a:prstGeom prst="rect">
            <a:avLst/>
          </a:prstGeom>
          <a:solidFill>
            <a:srgbClr val="00BFA5"/>
          </a:solidFill>
          <a:ln/>
        </p:spPr>
      </p:sp>
      <p:pic>
        <p:nvPicPr>
          <p:cNvPr id="17" name="Image 2" descr="icon_120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29718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Partner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8016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PA/AM/Flow/RME partner who can confirm whether outputs match floor reality during CPT windows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788920"/>
            <a:ext cx="109728" cy="1508760"/>
          </a:xfrm>
          <a:prstGeom prst="rect">
            <a:avLst/>
          </a:prstGeom>
          <a:solidFill>
            <a:srgbClr val="00C853"/>
          </a:solidFill>
          <a:ln/>
        </p:spPr>
      </p:sp>
      <p:pic>
        <p:nvPicPr>
          <p:cNvPr id="22" name="Image 3" descr="icon_121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9200" y="29718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577840" y="3337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Time-to-localize bottleneck, intervention speed, repeat risk reduction, leader confidence in tool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Choose PC_Singles or PC_Multis as pilot scope, confirm data extracts, and build first MVP.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CRISP Performance Translator</dc:title>
  <dc:subject>PptxGenJS Presentation</dc:subject>
  <dc:creator>Abdulrahman Hashem</dc:creator>
  <cp:lastModifiedBy>Abdulrahman Hashem</cp:lastModifiedBy>
  <cp:revision>1</cp:revision>
  <dcterms:created xsi:type="dcterms:W3CDTF">2026-06-04T16:11:18Z</dcterms:created>
  <dcterms:modified xsi:type="dcterms:W3CDTF">2026-06-04T16:11:18Z</dcterms:modified>
</cp:coreProperties>
</file>